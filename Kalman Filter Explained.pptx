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di Saleh" userId="21314bed-9df1-425e-89ad-58f9ac5b3bdc" providerId="ADAL" clId="{AF3AEC1E-C143-43BF-A445-3503A4BC5690}"/>
    <pc:docChg chg="modSld">
      <pc:chgData name="Mahdi Saleh" userId="21314bed-9df1-425e-89ad-58f9ac5b3bdc" providerId="ADAL" clId="{AF3AEC1E-C143-43BF-A445-3503A4BC5690}" dt="2026-09-17T15:24:11.592" v="7" actId="1076"/>
      <pc:docMkLst>
        <pc:docMk/>
      </pc:docMkLst>
      <pc:sldChg chg="modSp mod">
        <pc:chgData name="Mahdi Saleh" userId="21314bed-9df1-425e-89ad-58f9ac5b3bdc" providerId="ADAL" clId="{AF3AEC1E-C143-43BF-A445-3503A4BC5690}" dt="2026-09-17T15:23:47.163" v="3" actId="1076"/>
        <pc:sldMkLst>
          <pc:docMk/>
          <pc:sldMk cId="1047207597" sldId="256"/>
        </pc:sldMkLst>
        <pc:spChg chg="mod">
          <ac:chgData name="Mahdi Saleh" userId="21314bed-9df1-425e-89ad-58f9ac5b3bdc" providerId="ADAL" clId="{AF3AEC1E-C143-43BF-A445-3503A4BC5690}" dt="2026-09-17T15:23:47.163" v="3" actId="1076"/>
          <ac:spMkLst>
            <pc:docMk/>
            <pc:sldMk cId="1047207597" sldId="256"/>
            <ac:spMk id="2" creationId="{78EFB66C-5143-4BD4-B031-FF3F13B78518}"/>
          </ac:spMkLst>
        </pc:spChg>
      </pc:sldChg>
      <pc:sldChg chg="modSp mod">
        <pc:chgData name="Mahdi Saleh" userId="21314bed-9df1-425e-89ad-58f9ac5b3bdc" providerId="ADAL" clId="{AF3AEC1E-C143-43BF-A445-3503A4BC5690}" dt="2026-09-17T15:24:11.592" v="7" actId="1076"/>
        <pc:sldMkLst>
          <pc:docMk/>
          <pc:sldMk cId="1651785616" sldId="259"/>
        </pc:sldMkLst>
        <pc:spChg chg="mod">
          <ac:chgData name="Mahdi Saleh" userId="21314bed-9df1-425e-89ad-58f9ac5b3bdc" providerId="ADAL" clId="{AF3AEC1E-C143-43BF-A445-3503A4BC5690}" dt="2026-09-17T15:24:11.592" v="7" actId="1076"/>
          <ac:spMkLst>
            <pc:docMk/>
            <pc:sldMk cId="1651785616" sldId="259"/>
            <ac:spMk id="2" creationId="{3341B4F8-4C42-48C0-804B-3CA1FBC3525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EFB66C-5143-4BD4-B031-FF3F13B78518}"/>
              </a:ext>
            </a:extLst>
          </p:cNvPr>
          <p:cNvSpPr>
            <a:spLocks noGrp="1"/>
          </p:cNvSpPr>
          <p:nvPr/>
        </p:nvSpPr>
        <p:spPr>
          <a:xfrm>
            <a:off x="0" y="2743200"/>
            <a:ext cx="121920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00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 dirty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Scalar Kalman Filter</a:t>
            </a:r>
          </a:p>
        </p:txBody>
      </p:sp>
    </p:spTree>
    <p:extLst>
      <p:ext uri="{BB962C8B-B14F-4D97-AF65-F5344CB8AC3E}">
        <p14:creationId xmlns:p14="http://schemas.microsoft.com/office/powerpoint/2010/main" val="1047207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2A3D80E7-16F1-4EFB-9960-19FCDB051AC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Scalar Kalman filter: symbols and sequence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4F945A-FBD9-4505-A08D-71F7D1FB1DF8}"/>
              </a:ext>
            </a:extLst>
          </p:cNvPr>
          <p:cNvSpPr>
            <a:spLocks noGrp="1"/>
          </p:cNvSpPr>
          <p:nvPr/>
        </p:nvSpPr>
        <p:spPr>
          <a:xfrm>
            <a:off x="704850" y="895350"/>
            <a:ext cx="108108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Each variable contains one number because the state is a single weight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48FDB2-CD0B-42BC-A51D-2A340FE1721F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4286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What each symbol contains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8DBD7A-C767-4E23-9E53-42615CB1DDE1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rPr>
              <a:t>x̂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F17529-77DE-4F98-A73B-EC2D9BE2A5BA}"/>
              </a:ext>
            </a:extLst>
          </p:cNvPr>
          <p:cNvSpPr>
            <a:spLocks noGrp="1"/>
          </p:cNvSpPr>
          <p:nvPr/>
        </p:nvSpPr>
        <p:spPr>
          <a:xfrm>
            <a:off x="1352550" y="180975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Current estimate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6E0E7C-1FAC-4956-B4F8-83B2FD7A0D9D}"/>
              </a:ext>
            </a:extLst>
          </p:cNvPr>
          <p:cNvSpPr>
            <a:spLocks noGrp="1"/>
          </p:cNvSpPr>
          <p:nvPr/>
        </p:nvSpPr>
        <p:spPr>
          <a:xfrm>
            <a:off x="1352550" y="2085975"/>
            <a:ext cx="3619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kg, example: 8 kg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42AE42-3848-4C03-B763-D5E6399F257C}"/>
              </a:ext>
            </a:extLst>
          </p:cNvPr>
          <p:cNvSpPr>
            <a:spLocks noGrp="1"/>
          </p:cNvSpPr>
          <p:nvPr/>
        </p:nvSpPr>
        <p:spPr>
          <a:xfrm>
            <a:off x="742950" y="251460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rPr>
              <a:t>z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0F68F7-D047-46BC-8046-B59E9C874A14}"/>
              </a:ext>
            </a:extLst>
          </p:cNvPr>
          <p:cNvSpPr>
            <a:spLocks noGrp="1"/>
          </p:cNvSpPr>
          <p:nvPr/>
        </p:nvSpPr>
        <p:spPr>
          <a:xfrm>
            <a:off x="1352550" y="25146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New measurement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5F0748-1E61-4604-A571-60D3F7672A9C}"/>
              </a:ext>
            </a:extLst>
          </p:cNvPr>
          <p:cNvSpPr>
            <a:spLocks noGrp="1"/>
          </p:cNvSpPr>
          <p:nvPr/>
        </p:nvSpPr>
        <p:spPr>
          <a:xfrm>
            <a:off x="1352550" y="2790825"/>
            <a:ext cx="3619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kg, example: 12 kg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29F4D0-6058-4780-9CD3-CB5A97CEA9F8}"/>
              </a:ext>
            </a:extLst>
          </p:cNvPr>
          <p:cNvSpPr>
            <a:spLocks noGrp="1"/>
          </p:cNvSpPr>
          <p:nvPr/>
        </p:nvSpPr>
        <p:spPr>
          <a:xfrm>
            <a:off x="742950" y="321945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rPr>
              <a:t>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338185-67A5-476B-9676-D80F068DB45D}"/>
              </a:ext>
            </a:extLst>
          </p:cNvPr>
          <p:cNvSpPr>
            <a:spLocks noGrp="1"/>
          </p:cNvSpPr>
          <p:nvPr/>
        </p:nvSpPr>
        <p:spPr>
          <a:xfrm>
            <a:off x="1352550" y="321945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Uncertainty of x̂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EAB2EB-6CE6-4BBE-969F-68A0BDCB5B54}"/>
              </a:ext>
            </a:extLst>
          </p:cNvPr>
          <p:cNvSpPr>
            <a:spLocks noGrp="1"/>
          </p:cNvSpPr>
          <p:nvPr/>
        </p:nvSpPr>
        <p:spPr>
          <a:xfrm>
            <a:off x="1352550" y="3495675"/>
            <a:ext cx="3619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kg², smaller P means higher confidence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C44866-47B4-4D4F-9542-9FC91B190550}"/>
              </a:ext>
            </a:extLst>
          </p:cNvPr>
          <p:cNvSpPr>
            <a:spLocks noGrp="1"/>
          </p:cNvSpPr>
          <p:nvPr/>
        </p:nvSpPr>
        <p:spPr>
          <a:xfrm>
            <a:off x="742950" y="392430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rPr>
              <a:t>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26BDB9-29D9-44AE-93A8-AB0E79672D2C}"/>
              </a:ext>
            </a:extLst>
          </p:cNvPr>
          <p:cNvSpPr>
            <a:spLocks noGrp="1"/>
          </p:cNvSpPr>
          <p:nvPr/>
        </p:nvSpPr>
        <p:spPr>
          <a:xfrm>
            <a:off x="1352550" y="39243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Uncertainty of z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7EC52A-93B6-48C1-A34B-FD1BD287C93D}"/>
              </a:ext>
            </a:extLst>
          </p:cNvPr>
          <p:cNvSpPr>
            <a:spLocks noGrp="1"/>
          </p:cNvSpPr>
          <p:nvPr/>
        </p:nvSpPr>
        <p:spPr>
          <a:xfrm>
            <a:off x="1352550" y="4200525"/>
            <a:ext cx="3619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kg², smaller R means a more reliable reading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480090-CF93-40D3-8330-5C5C9F8E0BCC}"/>
              </a:ext>
            </a:extLst>
          </p:cNvPr>
          <p:cNvSpPr>
            <a:spLocks noGrp="1"/>
          </p:cNvSpPr>
          <p:nvPr/>
        </p:nvSpPr>
        <p:spPr>
          <a:xfrm>
            <a:off x="742950" y="462915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rPr>
              <a:t>Q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3DD1AB-720A-4BBB-B5D0-840283E2C443}"/>
              </a:ext>
            </a:extLst>
          </p:cNvPr>
          <p:cNvSpPr>
            <a:spLocks noGrp="1"/>
          </p:cNvSpPr>
          <p:nvPr/>
        </p:nvSpPr>
        <p:spPr>
          <a:xfrm>
            <a:off x="1352550" y="462915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Possible real change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692501-4C11-4DD4-9ECD-9CCFC08F8FD0}"/>
              </a:ext>
            </a:extLst>
          </p:cNvPr>
          <p:cNvSpPr>
            <a:spLocks noGrp="1"/>
          </p:cNvSpPr>
          <p:nvPr/>
        </p:nvSpPr>
        <p:spPr>
          <a:xfrm>
            <a:off x="1352550" y="4905375"/>
            <a:ext cx="3619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kg², Q = 0 for constant weight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82F09F-7617-4241-B4AF-03D8DEDE686C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rPr>
              <a:t>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BA9D7B-971B-4B1E-87EE-77A71D3F6985}"/>
              </a:ext>
            </a:extLst>
          </p:cNvPr>
          <p:cNvSpPr>
            <a:spLocks noGrp="1"/>
          </p:cNvSpPr>
          <p:nvPr/>
        </p:nvSpPr>
        <p:spPr>
          <a:xfrm>
            <a:off x="1352550" y="53340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Measurement trust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B94E6D-A6FF-4656-A6FC-F7B9DBD9D7D9}"/>
              </a:ext>
            </a:extLst>
          </p:cNvPr>
          <p:cNvSpPr>
            <a:spLocks noGrp="1"/>
          </p:cNvSpPr>
          <p:nvPr/>
        </p:nvSpPr>
        <p:spPr>
          <a:xfrm>
            <a:off x="1352550" y="5610225"/>
            <a:ext cx="3619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No unit, near 1 trusts z more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7DF364-0C27-42EB-8056-4A81FD53DF80}"/>
              </a:ext>
            </a:extLst>
          </p:cNvPr>
          <p:cNvSpPr>
            <a:spLocks noGrp="1"/>
          </p:cNvSpPr>
          <p:nvPr/>
        </p:nvSpPr>
        <p:spPr>
          <a:xfrm>
            <a:off x="5429250" y="1371600"/>
            <a:ext cx="609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Calculation for each new measurement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2C04E0-67A1-46C1-99EC-61F74D447EF9}"/>
              </a:ext>
            </a:extLst>
          </p:cNvPr>
          <p:cNvSpPr>
            <a:spLocks noGrp="1"/>
          </p:cNvSpPr>
          <p:nvPr/>
        </p:nvSpPr>
        <p:spPr>
          <a:xfrm>
            <a:off x="5429250" y="1809750"/>
            <a:ext cx="6096000" cy="838200"/>
          </a:xfrm>
          <a:prstGeom prst="rect">
            <a:avLst/>
          </a:prstGeom>
          <a:solidFill>
            <a:srgbClr val="E8F2F9"/>
          </a:solidFill>
          <a:ln w="9525">
            <a:solidFill>
              <a:srgbClr val="CBD5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936B4F-4FC6-4009-9717-067B85BDB393}"/>
              </a:ext>
            </a:extLst>
          </p:cNvPr>
          <p:cNvSpPr>
            <a:spLocks noGrp="1"/>
          </p:cNvSpPr>
          <p:nvPr/>
        </p:nvSpPr>
        <p:spPr>
          <a:xfrm>
            <a:off x="5562600" y="1981200"/>
            <a:ext cx="361950" cy="361950"/>
          </a:xfrm>
          <a:prstGeom prst="rect">
            <a:avLst/>
          </a:prstGeom>
          <a:solidFill>
            <a:srgbClr val="2F75A9"/>
          </a:solidFill>
          <a:ln w="9525">
            <a:solidFill>
              <a:srgbClr val="2F75A9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27332C-0212-4100-8D41-8B283D0A0851}"/>
              </a:ext>
            </a:extLst>
          </p:cNvPr>
          <p:cNvSpPr>
            <a:spLocks noGrp="1"/>
          </p:cNvSpPr>
          <p:nvPr/>
        </p:nvSpPr>
        <p:spPr>
          <a:xfrm>
            <a:off x="5657850" y="201930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966A7A6-5468-4179-BE40-018EC150CEAE}"/>
              </a:ext>
            </a:extLst>
          </p:cNvPr>
          <p:cNvSpPr>
            <a:spLocks noGrp="1"/>
          </p:cNvSpPr>
          <p:nvPr/>
        </p:nvSpPr>
        <p:spPr>
          <a:xfrm>
            <a:off x="6076950" y="1905000"/>
            <a:ext cx="5295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Predict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B79C31-F825-446A-A96D-DA064BD9FED1}"/>
              </a:ext>
            </a:extLst>
          </p:cNvPr>
          <p:cNvSpPr>
            <a:spLocks noGrp="1"/>
          </p:cNvSpPr>
          <p:nvPr/>
        </p:nvSpPr>
        <p:spPr>
          <a:xfrm>
            <a:off x="6076950" y="2219325"/>
            <a:ext cx="52959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x̂⁻ = previous x̂      P⁻ = previous P + Q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C262DE-5D36-4461-92C8-292C5B7DFF34}"/>
              </a:ext>
            </a:extLst>
          </p:cNvPr>
          <p:cNvSpPr>
            <a:spLocks noGrp="1"/>
          </p:cNvSpPr>
          <p:nvPr/>
        </p:nvSpPr>
        <p:spPr>
          <a:xfrm>
            <a:off x="8334375" y="2667000"/>
            <a:ext cx="285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↓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15A4079-6703-47C4-A021-2A50B8C8D9CD}"/>
              </a:ext>
            </a:extLst>
          </p:cNvPr>
          <p:cNvSpPr>
            <a:spLocks noGrp="1"/>
          </p:cNvSpPr>
          <p:nvPr/>
        </p:nvSpPr>
        <p:spPr>
          <a:xfrm>
            <a:off x="5429250" y="2952750"/>
            <a:ext cx="6096000" cy="8382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92EB28-01F3-49CE-971C-40E19A4A9DF1}"/>
              </a:ext>
            </a:extLst>
          </p:cNvPr>
          <p:cNvSpPr>
            <a:spLocks noGrp="1"/>
          </p:cNvSpPr>
          <p:nvPr/>
        </p:nvSpPr>
        <p:spPr>
          <a:xfrm>
            <a:off x="5562600" y="3124200"/>
            <a:ext cx="361950" cy="361950"/>
          </a:xfrm>
          <a:prstGeom prst="rect">
            <a:avLst/>
          </a:prstGeom>
          <a:solidFill>
            <a:srgbClr val="2F75A9"/>
          </a:solidFill>
          <a:ln w="9525">
            <a:solidFill>
              <a:srgbClr val="2F75A9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E2E9023-81C5-4CFA-82D2-1EAD371C0D54}"/>
              </a:ext>
            </a:extLst>
          </p:cNvPr>
          <p:cNvSpPr>
            <a:spLocks noGrp="1"/>
          </p:cNvSpPr>
          <p:nvPr/>
        </p:nvSpPr>
        <p:spPr>
          <a:xfrm>
            <a:off x="5657850" y="316230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30A613-042A-422A-A0B9-5FC15A1C0A68}"/>
              </a:ext>
            </a:extLst>
          </p:cNvPr>
          <p:cNvSpPr>
            <a:spLocks noGrp="1"/>
          </p:cNvSpPr>
          <p:nvPr/>
        </p:nvSpPr>
        <p:spPr>
          <a:xfrm>
            <a:off x="6076950" y="3048000"/>
            <a:ext cx="5295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Compare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CE22F0-831D-4FA5-80B5-82E5AB4CE2B5}"/>
              </a:ext>
            </a:extLst>
          </p:cNvPr>
          <p:cNvSpPr>
            <a:spLocks noGrp="1"/>
          </p:cNvSpPr>
          <p:nvPr/>
        </p:nvSpPr>
        <p:spPr>
          <a:xfrm>
            <a:off x="6076950" y="3362325"/>
            <a:ext cx="52959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y = z − x̂⁻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9B912CB-5F60-41C5-A2AF-17C5874F36F3}"/>
              </a:ext>
            </a:extLst>
          </p:cNvPr>
          <p:cNvSpPr>
            <a:spLocks noGrp="1"/>
          </p:cNvSpPr>
          <p:nvPr/>
        </p:nvSpPr>
        <p:spPr>
          <a:xfrm>
            <a:off x="8334375" y="3810000"/>
            <a:ext cx="285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↓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A0A8226-9D7A-4083-9B86-BA08ADE374A1}"/>
              </a:ext>
            </a:extLst>
          </p:cNvPr>
          <p:cNvSpPr>
            <a:spLocks noGrp="1"/>
          </p:cNvSpPr>
          <p:nvPr/>
        </p:nvSpPr>
        <p:spPr>
          <a:xfrm>
            <a:off x="5429250" y="4095750"/>
            <a:ext cx="6096000" cy="838200"/>
          </a:xfrm>
          <a:prstGeom prst="rect">
            <a:avLst/>
          </a:prstGeom>
          <a:solidFill>
            <a:srgbClr val="FFF1E6"/>
          </a:solidFill>
          <a:ln w="9525">
            <a:solidFill>
              <a:srgbClr val="CBD5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70A3792-BA16-473F-9E6A-BCDC2B4C3701}"/>
              </a:ext>
            </a:extLst>
          </p:cNvPr>
          <p:cNvSpPr>
            <a:spLocks noGrp="1"/>
          </p:cNvSpPr>
          <p:nvPr/>
        </p:nvSpPr>
        <p:spPr>
          <a:xfrm>
            <a:off x="5562600" y="4267200"/>
            <a:ext cx="361950" cy="361950"/>
          </a:xfrm>
          <a:prstGeom prst="rect">
            <a:avLst/>
          </a:prstGeom>
          <a:solidFill>
            <a:srgbClr val="2F75A9"/>
          </a:solidFill>
          <a:ln w="9525">
            <a:solidFill>
              <a:srgbClr val="2F75A9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2E42270-0DF1-43FB-8200-222B6FBFD8D5}"/>
              </a:ext>
            </a:extLst>
          </p:cNvPr>
          <p:cNvSpPr>
            <a:spLocks noGrp="1"/>
          </p:cNvSpPr>
          <p:nvPr/>
        </p:nvSpPr>
        <p:spPr>
          <a:xfrm>
            <a:off x="5657850" y="430530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BCF235E-D5C0-4DD2-BA70-618A12DBD300}"/>
              </a:ext>
            </a:extLst>
          </p:cNvPr>
          <p:cNvSpPr>
            <a:spLocks noGrp="1"/>
          </p:cNvSpPr>
          <p:nvPr/>
        </p:nvSpPr>
        <p:spPr>
          <a:xfrm>
            <a:off x="6076950" y="4191000"/>
            <a:ext cx="5295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Choose trust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4605859-AD43-452C-BBCF-ED6CF4D3FD50}"/>
              </a:ext>
            </a:extLst>
          </p:cNvPr>
          <p:cNvSpPr>
            <a:spLocks noGrp="1"/>
          </p:cNvSpPr>
          <p:nvPr/>
        </p:nvSpPr>
        <p:spPr>
          <a:xfrm>
            <a:off x="6076950" y="4505325"/>
            <a:ext cx="52959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K = P⁻ / (P⁻ + R)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F80421-10CA-4A88-91CF-017E4844AB53}"/>
              </a:ext>
            </a:extLst>
          </p:cNvPr>
          <p:cNvSpPr>
            <a:spLocks noGrp="1"/>
          </p:cNvSpPr>
          <p:nvPr/>
        </p:nvSpPr>
        <p:spPr>
          <a:xfrm>
            <a:off x="8334375" y="4953000"/>
            <a:ext cx="285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↓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B62A078-E8EC-476E-81B7-E1B76E07940D}"/>
              </a:ext>
            </a:extLst>
          </p:cNvPr>
          <p:cNvSpPr>
            <a:spLocks noGrp="1"/>
          </p:cNvSpPr>
          <p:nvPr/>
        </p:nvSpPr>
        <p:spPr>
          <a:xfrm>
            <a:off x="5429250" y="5238750"/>
            <a:ext cx="6096000" cy="838200"/>
          </a:xfrm>
          <a:prstGeom prst="rect">
            <a:avLst/>
          </a:prstGeom>
          <a:solidFill>
            <a:srgbClr val="E9F5F0"/>
          </a:solidFill>
          <a:ln w="9525">
            <a:solidFill>
              <a:srgbClr val="CBD5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A95D1FF-C4F3-45D4-A4A1-27694479B6F7}"/>
              </a:ext>
            </a:extLst>
          </p:cNvPr>
          <p:cNvSpPr>
            <a:spLocks noGrp="1"/>
          </p:cNvSpPr>
          <p:nvPr/>
        </p:nvSpPr>
        <p:spPr>
          <a:xfrm>
            <a:off x="5562600" y="5410200"/>
            <a:ext cx="361950" cy="361950"/>
          </a:xfrm>
          <a:prstGeom prst="rect">
            <a:avLst/>
          </a:prstGeom>
          <a:solidFill>
            <a:srgbClr val="2F75A9"/>
          </a:solidFill>
          <a:ln w="9525">
            <a:solidFill>
              <a:srgbClr val="2F75A9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C0425CD-8F5F-4510-A58C-DD0FF2DA6E83}"/>
              </a:ext>
            </a:extLst>
          </p:cNvPr>
          <p:cNvSpPr>
            <a:spLocks noGrp="1"/>
          </p:cNvSpPr>
          <p:nvPr/>
        </p:nvSpPr>
        <p:spPr>
          <a:xfrm>
            <a:off x="5657850" y="544830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4C8266A-8ADA-4840-AB65-3E66DEADDBFA}"/>
              </a:ext>
            </a:extLst>
          </p:cNvPr>
          <p:cNvSpPr>
            <a:spLocks noGrp="1"/>
          </p:cNvSpPr>
          <p:nvPr/>
        </p:nvSpPr>
        <p:spPr>
          <a:xfrm>
            <a:off x="6076950" y="5334000"/>
            <a:ext cx="5295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Update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06D7EA-9240-455F-B519-9718D0E9E0F3}"/>
              </a:ext>
            </a:extLst>
          </p:cNvPr>
          <p:cNvSpPr>
            <a:spLocks noGrp="1"/>
          </p:cNvSpPr>
          <p:nvPr/>
        </p:nvSpPr>
        <p:spPr>
          <a:xfrm>
            <a:off x="6076950" y="5648325"/>
            <a:ext cx="52959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x̂ = x̂⁻ + Ky      P = (1 − K)P⁻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B45B332-E75F-4B01-A574-E0AD6BC8A431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Superscript ⁻ means the prediction before using the new measurement</a:t>
            </a:r>
          </a:p>
        </p:txBody>
      </p:sp>
    </p:spTree>
    <p:extLst>
      <p:ext uri="{BB962C8B-B14F-4D97-AF65-F5344CB8AC3E}">
        <p14:creationId xmlns:p14="http://schemas.microsoft.com/office/powerpoint/2010/main" val="1461788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77D27734-AAA3-4200-B78A-A7D1E7FE2868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Scalar worked update: measurement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5723ED-4192-4559-A1E4-1D6E98B08EEC}"/>
              </a:ext>
            </a:extLst>
          </p:cNvPr>
          <p:cNvSpPr>
            <a:spLocks noGrp="1"/>
          </p:cNvSpPr>
          <p:nvPr/>
        </p:nvSpPr>
        <p:spPr>
          <a:xfrm>
            <a:off x="704850" y="895350"/>
            <a:ext cx="108108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Previous estimate: x̂₁ = 8 kg, P₁ = 4 kg²    New reading: z₂ = 12 kg, R₂ = 1 kg²    Q = 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874ECF-5E74-404E-BAA3-9E5BFF90511A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7620000" cy="809625"/>
          </a:xfrm>
          <a:prstGeom prst="rect">
            <a:avLst/>
          </a:prstGeom>
          <a:solidFill>
            <a:srgbClr val="E8F2F9"/>
          </a:solidFill>
          <a:ln w="9525">
            <a:solidFill>
              <a:srgbClr val="CBD5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574116-3794-450D-A194-09486F70CEED}"/>
              </a:ext>
            </a:extLst>
          </p:cNvPr>
          <p:cNvSpPr>
            <a:spLocks noGrp="1"/>
          </p:cNvSpPr>
          <p:nvPr/>
        </p:nvSpPr>
        <p:spPr>
          <a:xfrm>
            <a:off x="838200" y="1600200"/>
            <a:ext cx="438150" cy="438150"/>
          </a:xfrm>
          <a:prstGeom prst="rect">
            <a:avLst/>
          </a:prstGeom>
          <a:solidFill>
            <a:srgbClr val="2F75A9"/>
          </a:solidFill>
          <a:ln w="9525">
            <a:solidFill>
              <a:srgbClr val="2F75A9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91F24E-4220-443A-9713-FD9587B9091B}"/>
              </a:ext>
            </a:extLst>
          </p:cNvPr>
          <p:cNvSpPr>
            <a:spLocks noGrp="1"/>
          </p:cNvSpPr>
          <p:nvPr/>
        </p:nvSpPr>
        <p:spPr>
          <a:xfrm>
            <a:off x="971550" y="1666875"/>
            <a:ext cx="238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1258A8-C328-4534-B41B-51E3B381DF30}"/>
              </a:ext>
            </a:extLst>
          </p:cNvPr>
          <p:cNvSpPr>
            <a:spLocks noGrp="1"/>
          </p:cNvSpPr>
          <p:nvPr/>
        </p:nvSpPr>
        <p:spPr>
          <a:xfrm>
            <a:off x="1571625" y="1514475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Prediction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38F74A-CF75-4EAE-8213-295AD2244D6D}"/>
              </a:ext>
            </a:extLst>
          </p:cNvPr>
          <p:cNvSpPr>
            <a:spLocks noGrp="1"/>
          </p:cNvSpPr>
          <p:nvPr/>
        </p:nvSpPr>
        <p:spPr>
          <a:xfrm>
            <a:off x="3781425" y="1495425"/>
            <a:ext cx="42386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x̂₂⁻ = x̂₁ = 8 kg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FBB711-88E6-44F8-A8C5-54BAD8F16F5C}"/>
              </a:ext>
            </a:extLst>
          </p:cNvPr>
          <p:cNvSpPr>
            <a:spLocks noGrp="1"/>
          </p:cNvSpPr>
          <p:nvPr/>
        </p:nvSpPr>
        <p:spPr>
          <a:xfrm>
            <a:off x="3781425" y="1838325"/>
            <a:ext cx="42386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P₂⁻ = P₁ + Q = 4 kg²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A7D197-EF6B-4616-A95E-9747160DF14D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7620000" cy="809625"/>
          </a:xfrm>
          <a:prstGeom prst="rect">
            <a:avLst/>
          </a:prstGeom>
          <a:solidFill>
            <a:srgbClr val="F4F6F8"/>
          </a:solidFill>
          <a:ln w="9525">
            <a:solidFill>
              <a:srgbClr val="CBD5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1117F1-61B0-428F-B005-78E157114578}"/>
              </a:ext>
            </a:extLst>
          </p:cNvPr>
          <p:cNvSpPr>
            <a:spLocks noGrp="1"/>
          </p:cNvSpPr>
          <p:nvPr/>
        </p:nvSpPr>
        <p:spPr>
          <a:xfrm>
            <a:off x="838200" y="2505075"/>
            <a:ext cx="438150" cy="438150"/>
          </a:xfrm>
          <a:prstGeom prst="rect">
            <a:avLst/>
          </a:prstGeom>
          <a:solidFill>
            <a:srgbClr val="2F75A9"/>
          </a:solidFill>
          <a:ln w="9525">
            <a:solidFill>
              <a:srgbClr val="2F75A9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83D587-615D-4A1E-961B-F2BE4867A51F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38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30222C-DCE1-488F-B6B7-0CBBFB114E88}"/>
              </a:ext>
            </a:extLst>
          </p:cNvPr>
          <p:cNvSpPr>
            <a:spLocks noGrp="1"/>
          </p:cNvSpPr>
          <p:nvPr/>
        </p:nvSpPr>
        <p:spPr>
          <a:xfrm>
            <a:off x="1571625" y="24193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Innovation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B9B5AF-FA75-4566-941D-E0872FC3B5AE}"/>
              </a:ext>
            </a:extLst>
          </p:cNvPr>
          <p:cNvSpPr>
            <a:spLocks noGrp="1"/>
          </p:cNvSpPr>
          <p:nvPr/>
        </p:nvSpPr>
        <p:spPr>
          <a:xfrm>
            <a:off x="3781425" y="2400300"/>
            <a:ext cx="42386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y₂ = z₂ − x̂₂⁻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7CB698-331D-4CB1-A5BD-37E7EA699E96}"/>
              </a:ext>
            </a:extLst>
          </p:cNvPr>
          <p:cNvSpPr>
            <a:spLocks noGrp="1"/>
          </p:cNvSpPr>
          <p:nvPr/>
        </p:nvSpPr>
        <p:spPr>
          <a:xfrm>
            <a:off x="3781425" y="2743200"/>
            <a:ext cx="42386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y₂ = 12 − 8 = 4 kg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517D36-416F-43D0-B712-8B6E37317234}"/>
              </a:ext>
            </a:extLst>
          </p:cNvPr>
          <p:cNvSpPr>
            <a:spLocks noGrp="1"/>
          </p:cNvSpPr>
          <p:nvPr/>
        </p:nvSpPr>
        <p:spPr>
          <a:xfrm>
            <a:off x="666750" y="3238500"/>
            <a:ext cx="7620000" cy="809625"/>
          </a:xfrm>
          <a:prstGeom prst="rect">
            <a:avLst/>
          </a:prstGeom>
          <a:solidFill>
            <a:srgbClr val="FFF1E6"/>
          </a:solidFill>
          <a:ln w="9525">
            <a:solidFill>
              <a:srgbClr val="CBD5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4929EA-FD5A-41F6-A093-50DEF5A4EF4F}"/>
              </a:ext>
            </a:extLst>
          </p:cNvPr>
          <p:cNvSpPr>
            <a:spLocks noGrp="1"/>
          </p:cNvSpPr>
          <p:nvPr/>
        </p:nvSpPr>
        <p:spPr>
          <a:xfrm>
            <a:off x="838200" y="3409950"/>
            <a:ext cx="438150" cy="438150"/>
          </a:xfrm>
          <a:prstGeom prst="rect">
            <a:avLst/>
          </a:prstGeom>
          <a:solidFill>
            <a:srgbClr val="2F75A9"/>
          </a:solidFill>
          <a:ln w="9525">
            <a:solidFill>
              <a:srgbClr val="2F75A9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EFCC1D-6862-4CCA-BA99-3B85F963CEC8}"/>
              </a:ext>
            </a:extLst>
          </p:cNvPr>
          <p:cNvSpPr>
            <a:spLocks noGrp="1"/>
          </p:cNvSpPr>
          <p:nvPr/>
        </p:nvSpPr>
        <p:spPr>
          <a:xfrm>
            <a:off x="971550" y="3476625"/>
            <a:ext cx="238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4A923E-15D2-45EF-9D55-E428D96B0C1D}"/>
              </a:ext>
            </a:extLst>
          </p:cNvPr>
          <p:cNvSpPr>
            <a:spLocks noGrp="1"/>
          </p:cNvSpPr>
          <p:nvPr/>
        </p:nvSpPr>
        <p:spPr>
          <a:xfrm>
            <a:off x="1571625" y="3324225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Kalman gain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CF9674-5539-4CFD-8519-0227EB4A6B9A}"/>
              </a:ext>
            </a:extLst>
          </p:cNvPr>
          <p:cNvSpPr>
            <a:spLocks noGrp="1"/>
          </p:cNvSpPr>
          <p:nvPr/>
        </p:nvSpPr>
        <p:spPr>
          <a:xfrm>
            <a:off x="3781425" y="3305175"/>
            <a:ext cx="42386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K₂ = P₂⁻ / (P₂⁻ + R₂)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3D8478-E94B-4145-9560-0D9A0B06DFB4}"/>
              </a:ext>
            </a:extLst>
          </p:cNvPr>
          <p:cNvSpPr>
            <a:spLocks noGrp="1"/>
          </p:cNvSpPr>
          <p:nvPr/>
        </p:nvSpPr>
        <p:spPr>
          <a:xfrm>
            <a:off x="3781425" y="3648075"/>
            <a:ext cx="42386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K₂ = 4 / (4 + 1) = 0.8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E3F0CA-61C5-474A-9138-E13DF59D8BF6}"/>
              </a:ext>
            </a:extLst>
          </p:cNvPr>
          <p:cNvSpPr>
            <a:spLocks noGrp="1"/>
          </p:cNvSpPr>
          <p:nvPr/>
        </p:nvSpPr>
        <p:spPr>
          <a:xfrm>
            <a:off x="666750" y="4143375"/>
            <a:ext cx="7620000" cy="809625"/>
          </a:xfrm>
          <a:prstGeom prst="rect">
            <a:avLst/>
          </a:prstGeom>
          <a:solidFill>
            <a:srgbClr val="E9F5F0"/>
          </a:solidFill>
          <a:ln w="9525">
            <a:solidFill>
              <a:srgbClr val="CBD5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376EEE-0B14-41E3-A958-E1D6878FAFEF}"/>
              </a:ext>
            </a:extLst>
          </p:cNvPr>
          <p:cNvSpPr>
            <a:spLocks noGrp="1"/>
          </p:cNvSpPr>
          <p:nvPr/>
        </p:nvSpPr>
        <p:spPr>
          <a:xfrm>
            <a:off x="838200" y="4314825"/>
            <a:ext cx="438150" cy="438150"/>
          </a:xfrm>
          <a:prstGeom prst="rect">
            <a:avLst/>
          </a:prstGeom>
          <a:solidFill>
            <a:srgbClr val="2F75A9"/>
          </a:solidFill>
          <a:ln w="9525">
            <a:solidFill>
              <a:srgbClr val="2F75A9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619F51-AFC2-40AD-BD3E-0D9CCAD858D8}"/>
              </a:ext>
            </a:extLst>
          </p:cNvPr>
          <p:cNvSpPr>
            <a:spLocks noGrp="1"/>
          </p:cNvSpPr>
          <p:nvPr/>
        </p:nvSpPr>
        <p:spPr>
          <a:xfrm>
            <a:off x="971550" y="4381500"/>
            <a:ext cx="238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1AF782-21BD-4735-8955-5C5BC2E610C1}"/>
              </a:ext>
            </a:extLst>
          </p:cNvPr>
          <p:cNvSpPr>
            <a:spLocks noGrp="1"/>
          </p:cNvSpPr>
          <p:nvPr/>
        </p:nvSpPr>
        <p:spPr>
          <a:xfrm>
            <a:off x="1571625" y="422910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Updated estimate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2B427B-BCC3-4A82-B475-005D64936AA7}"/>
              </a:ext>
            </a:extLst>
          </p:cNvPr>
          <p:cNvSpPr>
            <a:spLocks noGrp="1"/>
          </p:cNvSpPr>
          <p:nvPr/>
        </p:nvSpPr>
        <p:spPr>
          <a:xfrm>
            <a:off x="3781425" y="4210050"/>
            <a:ext cx="42386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x̂₂ = x̂₂⁻ + K₂y₂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4CCC2B-AB04-427B-9FAC-6DCCE96C0422}"/>
              </a:ext>
            </a:extLst>
          </p:cNvPr>
          <p:cNvSpPr>
            <a:spLocks noGrp="1"/>
          </p:cNvSpPr>
          <p:nvPr/>
        </p:nvSpPr>
        <p:spPr>
          <a:xfrm>
            <a:off x="3781425" y="4552950"/>
            <a:ext cx="42386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x̂₂ = 8 + 0.8(4) = 11.2 kg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1265F1B-9A26-44B8-9678-20E881F09DEC}"/>
              </a:ext>
            </a:extLst>
          </p:cNvPr>
          <p:cNvSpPr>
            <a:spLocks noGrp="1"/>
          </p:cNvSpPr>
          <p:nvPr/>
        </p:nvSpPr>
        <p:spPr>
          <a:xfrm>
            <a:off x="666750" y="5048250"/>
            <a:ext cx="7620000" cy="809625"/>
          </a:xfrm>
          <a:prstGeom prst="rect">
            <a:avLst/>
          </a:prstGeom>
          <a:solidFill>
            <a:srgbClr val="E9F5F0"/>
          </a:solidFill>
          <a:ln w="9525">
            <a:solidFill>
              <a:srgbClr val="CBD5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95BBEE8-4F60-4232-BDED-549AF7ABADB4}"/>
              </a:ext>
            </a:extLst>
          </p:cNvPr>
          <p:cNvSpPr>
            <a:spLocks noGrp="1"/>
          </p:cNvSpPr>
          <p:nvPr/>
        </p:nvSpPr>
        <p:spPr>
          <a:xfrm>
            <a:off x="838200" y="5219700"/>
            <a:ext cx="438150" cy="438150"/>
          </a:xfrm>
          <a:prstGeom prst="rect">
            <a:avLst/>
          </a:prstGeom>
          <a:solidFill>
            <a:srgbClr val="2F75A9"/>
          </a:solidFill>
          <a:ln w="9525">
            <a:solidFill>
              <a:srgbClr val="2F75A9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74EF1B-E047-4158-B8E7-43A50E28BF1F}"/>
              </a:ext>
            </a:extLst>
          </p:cNvPr>
          <p:cNvSpPr>
            <a:spLocks noGrp="1"/>
          </p:cNvSpPr>
          <p:nvPr/>
        </p:nvSpPr>
        <p:spPr>
          <a:xfrm>
            <a:off x="971550" y="5286375"/>
            <a:ext cx="238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A2581D8-36A6-40D9-A57D-4E459112D73F}"/>
              </a:ext>
            </a:extLst>
          </p:cNvPr>
          <p:cNvSpPr>
            <a:spLocks noGrp="1"/>
          </p:cNvSpPr>
          <p:nvPr/>
        </p:nvSpPr>
        <p:spPr>
          <a:xfrm>
            <a:off x="1571625" y="5133975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Updated uncertainty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FC3F920-1BF1-4CA4-9A86-BDD9527BB1E4}"/>
              </a:ext>
            </a:extLst>
          </p:cNvPr>
          <p:cNvSpPr>
            <a:spLocks noGrp="1"/>
          </p:cNvSpPr>
          <p:nvPr/>
        </p:nvSpPr>
        <p:spPr>
          <a:xfrm>
            <a:off x="3781425" y="5114925"/>
            <a:ext cx="42386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P₂ = (1 − K₂)P₂⁻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C91C4F6-4ED1-4864-A310-3838C67A8675}"/>
              </a:ext>
            </a:extLst>
          </p:cNvPr>
          <p:cNvSpPr>
            <a:spLocks noGrp="1"/>
          </p:cNvSpPr>
          <p:nvPr/>
        </p:nvSpPr>
        <p:spPr>
          <a:xfrm>
            <a:off x="3781425" y="5457825"/>
            <a:ext cx="42386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P₂ = (1 − 0.8)(4) = 0.8 kg²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D21A844-C9CA-4F63-B0B6-86BD0C356DEB}"/>
              </a:ext>
            </a:extLst>
          </p:cNvPr>
          <p:cNvSpPr>
            <a:spLocks noGrp="1"/>
          </p:cNvSpPr>
          <p:nvPr/>
        </p:nvSpPr>
        <p:spPr>
          <a:xfrm>
            <a:off x="8715375" y="1714500"/>
            <a:ext cx="2809875" cy="1952625"/>
          </a:xfrm>
          <a:prstGeom prst="rect">
            <a:avLst/>
          </a:prstGeom>
          <a:solidFill>
            <a:srgbClr val="FFF1E6"/>
          </a:solidFill>
          <a:ln w="9525">
            <a:solidFill>
              <a:srgbClr val="C96A28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700139-37CB-4638-AAAB-D81827C9432E}"/>
              </a:ext>
            </a:extLst>
          </p:cNvPr>
          <p:cNvSpPr>
            <a:spLocks noGrp="1"/>
          </p:cNvSpPr>
          <p:nvPr/>
        </p:nvSpPr>
        <p:spPr>
          <a:xfrm>
            <a:off x="8991600" y="1952625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What K = 0.8 means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0EDB93F-13C1-43FE-AB17-378732A10491}"/>
              </a:ext>
            </a:extLst>
          </p:cNvPr>
          <p:cNvSpPr>
            <a:spLocks noGrp="1"/>
          </p:cNvSpPr>
          <p:nvPr/>
        </p:nvSpPr>
        <p:spPr>
          <a:xfrm>
            <a:off x="8991600" y="2543175"/>
            <a:ext cx="228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The update uses 80% of the 4 kg innovation.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572BCD6-C694-4DB9-A639-5B46545F3E9C}"/>
              </a:ext>
            </a:extLst>
          </p:cNvPr>
          <p:cNvSpPr>
            <a:spLocks noGrp="1"/>
          </p:cNvSpPr>
          <p:nvPr/>
        </p:nvSpPr>
        <p:spPr>
          <a:xfrm>
            <a:off x="8991600" y="314325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C96A2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C96A28"/>
                </a:solidFill>
                <a:latin typeface="Bitstream Charter"/>
                <a:ea typeface="Bitstream Charter"/>
                <a:cs typeface="Bitstream Charter"/>
              </a:rPr>
              <a:t>The estimate moves toward the reliable measurement.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E1F77E7-D2C0-4BF6-A08D-066A88FDEDA0}"/>
              </a:ext>
            </a:extLst>
          </p:cNvPr>
          <p:cNvSpPr>
            <a:spLocks noGrp="1"/>
          </p:cNvSpPr>
          <p:nvPr/>
        </p:nvSpPr>
        <p:spPr>
          <a:xfrm>
            <a:off x="8715375" y="4000500"/>
            <a:ext cx="2809875" cy="1619250"/>
          </a:xfrm>
          <a:prstGeom prst="rect">
            <a:avLst/>
          </a:prstGeom>
          <a:solidFill>
            <a:srgbClr val="E9F5F0"/>
          </a:solidFill>
          <a:ln w="9525">
            <a:solidFill>
              <a:srgbClr val="2F7D6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3F7708-0887-4A69-BB8E-7EEAAAC96548}"/>
              </a:ext>
            </a:extLst>
          </p:cNvPr>
          <p:cNvSpPr>
            <a:spLocks noGrp="1"/>
          </p:cNvSpPr>
          <p:nvPr/>
        </p:nvSpPr>
        <p:spPr>
          <a:xfrm>
            <a:off x="8991600" y="422910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Result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17B653E-2F84-4D80-81BE-99D3C4045FA5}"/>
              </a:ext>
            </a:extLst>
          </p:cNvPr>
          <p:cNvSpPr>
            <a:spLocks noGrp="1"/>
          </p:cNvSpPr>
          <p:nvPr/>
        </p:nvSpPr>
        <p:spPr>
          <a:xfrm>
            <a:off x="8991600" y="4695825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2F7D6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2F7D66"/>
                </a:solidFill>
                <a:latin typeface="Bitstream Charter"/>
                <a:ea typeface="Bitstream Charter"/>
                <a:cs typeface="Bitstream Charter"/>
              </a:rPr>
              <a:t>x̂₂ = 11.2 kg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B4EB06A-B9D7-4F76-9372-1F3088BAAA10}"/>
              </a:ext>
            </a:extLst>
          </p:cNvPr>
          <p:cNvSpPr>
            <a:spLocks noGrp="1"/>
          </p:cNvSpPr>
          <p:nvPr/>
        </p:nvSpPr>
        <p:spPr>
          <a:xfrm>
            <a:off x="8991600" y="519112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P₂ = 0.8 kg²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E7BF7AC-FBE4-44B5-8BA4-4363CAA09EE5}"/>
              </a:ext>
            </a:extLst>
          </p:cNvPr>
          <p:cNvSpPr>
            <a:spLocks noGrp="1"/>
          </p:cNvSpPr>
          <p:nvPr/>
        </p:nvSpPr>
        <p:spPr>
          <a:xfrm>
            <a:off x="704850" y="6324600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The measurement improves the estimate and reduces its uncertainty.</a:t>
            </a:r>
          </a:p>
        </p:txBody>
      </p:sp>
    </p:spTree>
    <p:extLst>
      <p:ext uri="{BB962C8B-B14F-4D97-AF65-F5344CB8AC3E}">
        <p14:creationId xmlns:p14="http://schemas.microsoft.com/office/powerpoint/2010/main" val="2112740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41B4F8-4C42-48C0-804B-3CA1FBC35259}"/>
              </a:ext>
            </a:extLst>
          </p:cNvPr>
          <p:cNvSpPr>
            <a:spLocks noGrp="1"/>
          </p:cNvSpPr>
          <p:nvPr/>
        </p:nvSpPr>
        <p:spPr>
          <a:xfrm>
            <a:off x="0" y="2743200"/>
            <a:ext cx="121920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00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 dirty="0">
                <a:solidFill>
                  <a:srgbClr val="18324A"/>
                </a:solidFill>
                <a:latin typeface="Bitstream Charter"/>
              </a:rPr>
              <a:t>Two-Dimensional Kalman Filter</a:t>
            </a:r>
          </a:p>
        </p:txBody>
      </p:sp>
    </p:spTree>
    <p:extLst>
      <p:ext uri="{BB962C8B-B14F-4D97-AF65-F5344CB8AC3E}">
        <p14:creationId xmlns:p14="http://schemas.microsoft.com/office/powerpoint/2010/main" val="1651785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C8712F6E-7FAB-43E5-8C99-383BFC509F56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Two-dimensional Kalman filter: symbols and sequence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7177FB-2E86-4905-8BC6-23D00C5E0F08}"/>
              </a:ext>
            </a:extLst>
          </p:cNvPr>
          <p:cNvSpPr>
            <a:spLocks noGrp="1"/>
          </p:cNvSpPr>
          <p:nvPr/>
        </p:nvSpPr>
        <p:spPr>
          <a:xfrm>
            <a:off x="704850" y="895350"/>
            <a:ext cx="108108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The state contains two values: x-position and y-position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55D990-18DE-421A-B835-174643BE086A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4286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What each symbol contains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02E565-A50A-4D63-A0F0-971AC8332BC8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rPr>
              <a:t>x̂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EDA560-C963-4816-B5FA-5144A9B9B00F}"/>
              </a:ext>
            </a:extLst>
          </p:cNvPr>
          <p:cNvSpPr>
            <a:spLocks noGrp="1"/>
          </p:cNvSpPr>
          <p:nvPr/>
        </p:nvSpPr>
        <p:spPr>
          <a:xfrm>
            <a:off x="1352550" y="180975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Current estimate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84AF1F-A010-46D3-808E-32FB4C8C57FC}"/>
              </a:ext>
            </a:extLst>
          </p:cNvPr>
          <p:cNvSpPr>
            <a:spLocks noGrp="1"/>
          </p:cNvSpPr>
          <p:nvPr/>
        </p:nvSpPr>
        <p:spPr>
          <a:xfrm>
            <a:off x="1352550" y="2085975"/>
            <a:ext cx="3619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2×1 vector [x-position; y-position]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1CB9E7-8CB0-48FB-BB18-861492C68CCC}"/>
              </a:ext>
            </a:extLst>
          </p:cNvPr>
          <p:cNvSpPr>
            <a:spLocks noGrp="1"/>
          </p:cNvSpPr>
          <p:nvPr/>
        </p:nvSpPr>
        <p:spPr>
          <a:xfrm>
            <a:off x="742950" y="251460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rPr>
              <a:t>z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E3C4E8-CAEA-4D77-8E21-F6C64C7390E8}"/>
              </a:ext>
            </a:extLst>
          </p:cNvPr>
          <p:cNvSpPr>
            <a:spLocks noGrp="1"/>
          </p:cNvSpPr>
          <p:nvPr/>
        </p:nvSpPr>
        <p:spPr>
          <a:xfrm>
            <a:off x="1352550" y="25146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New measurement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A4A13A-68F9-4AEC-A900-7072AE9F7E72}"/>
              </a:ext>
            </a:extLst>
          </p:cNvPr>
          <p:cNvSpPr>
            <a:spLocks noGrp="1"/>
          </p:cNvSpPr>
          <p:nvPr/>
        </p:nvSpPr>
        <p:spPr>
          <a:xfrm>
            <a:off x="1352550" y="2790825"/>
            <a:ext cx="3619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2×1 measured position vector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F87299-1F1E-4C36-97AF-51D24C412BE4}"/>
              </a:ext>
            </a:extLst>
          </p:cNvPr>
          <p:cNvSpPr>
            <a:spLocks noGrp="1"/>
          </p:cNvSpPr>
          <p:nvPr/>
        </p:nvSpPr>
        <p:spPr>
          <a:xfrm>
            <a:off x="742950" y="321945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rPr>
              <a:t>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DC62D8-BA37-4505-9697-B32FC0F2D0C5}"/>
              </a:ext>
            </a:extLst>
          </p:cNvPr>
          <p:cNvSpPr>
            <a:spLocks noGrp="1"/>
          </p:cNvSpPr>
          <p:nvPr/>
        </p:nvSpPr>
        <p:spPr>
          <a:xfrm>
            <a:off x="1352550" y="321945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Uncertainty of x̂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268EB5-C6C9-448D-86BE-636E04A59964}"/>
              </a:ext>
            </a:extLst>
          </p:cNvPr>
          <p:cNvSpPr>
            <a:spLocks noGrp="1"/>
          </p:cNvSpPr>
          <p:nvPr/>
        </p:nvSpPr>
        <p:spPr>
          <a:xfrm>
            <a:off x="1352550" y="3495675"/>
            <a:ext cx="3619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2×2 estimate covariance matrix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B761A8-912E-468A-8468-32DBD120FBB4}"/>
              </a:ext>
            </a:extLst>
          </p:cNvPr>
          <p:cNvSpPr>
            <a:spLocks noGrp="1"/>
          </p:cNvSpPr>
          <p:nvPr/>
        </p:nvSpPr>
        <p:spPr>
          <a:xfrm>
            <a:off x="742950" y="392430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rPr>
              <a:t>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531282-6413-42F4-9D1E-B60949A3DBF5}"/>
              </a:ext>
            </a:extLst>
          </p:cNvPr>
          <p:cNvSpPr>
            <a:spLocks noGrp="1"/>
          </p:cNvSpPr>
          <p:nvPr/>
        </p:nvSpPr>
        <p:spPr>
          <a:xfrm>
            <a:off x="1352550" y="39243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Uncertainty of z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AEBA4E-B62A-467B-8D01-4BB1324A23F2}"/>
              </a:ext>
            </a:extLst>
          </p:cNvPr>
          <p:cNvSpPr>
            <a:spLocks noGrp="1"/>
          </p:cNvSpPr>
          <p:nvPr/>
        </p:nvSpPr>
        <p:spPr>
          <a:xfrm>
            <a:off x="1352550" y="4200525"/>
            <a:ext cx="3619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2×2 measurement covariance matrix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9CA1BE-DAA5-41E4-AFA0-8D0DA43BFD16}"/>
              </a:ext>
            </a:extLst>
          </p:cNvPr>
          <p:cNvSpPr>
            <a:spLocks noGrp="1"/>
          </p:cNvSpPr>
          <p:nvPr/>
        </p:nvSpPr>
        <p:spPr>
          <a:xfrm>
            <a:off x="742950" y="462915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rPr>
              <a:t>Q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F29B4D-BF4D-4574-A75B-8FA28CA395AE}"/>
              </a:ext>
            </a:extLst>
          </p:cNvPr>
          <p:cNvSpPr>
            <a:spLocks noGrp="1"/>
          </p:cNvSpPr>
          <p:nvPr/>
        </p:nvSpPr>
        <p:spPr>
          <a:xfrm>
            <a:off x="1352550" y="462915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Possible real change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7998FB-FD7C-4139-B256-98747BDBAAA6}"/>
              </a:ext>
            </a:extLst>
          </p:cNvPr>
          <p:cNvSpPr>
            <a:spLocks noGrp="1"/>
          </p:cNvSpPr>
          <p:nvPr/>
        </p:nvSpPr>
        <p:spPr>
          <a:xfrm>
            <a:off x="1352550" y="4905375"/>
            <a:ext cx="3619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2×2 process covariance matrix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3770E8-F649-4970-8BC2-7C6F431BA52E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F75A9"/>
                </a:solidFill>
                <a:latin typeface="Bitstream Charter"/>
                <a:ea typeface="Bitstream Charter"/>
                <a:cs typeface="Bitstream Charter"/>
              </a:rPr>
              <a:t>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EB5457-7FCB-4396-A52A-9185CB8B77A5}"/>
              </a:ext>
            </a:extLst>
          </p:cNvPr>
          <p:cNvSpPr>
            <a:spLocks noGrp="1"/>
          </p:cNvSpPr>
          <p:nvPr/>
        </p:nvSpPr>
        <p:spPr>
          <a:xfrm>
            <a:off x="1352550" y="53340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Measurement trust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EDD5BB-0BD4-4771-82D6-8A75F4B90595}"/>
              </a:ext>
            </a:extLst>
          </p:cNvPr>
          <p:cNvSpPr>
            <a:spLocks noGrp="1"/>
          </p:cNvSpPr>
          <p:nvPr/>
        </p:nvSpPr>
        <p:spPr>
          <a:xfrm>
            <a:off x="1352550" y="5610225"/>
            <a:ext cx="3619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2×2 Kalman gain matrix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D709B3-AD2D-4B85-A907-A6F03B2691D0}"/>
              </a:ext>
            </a:extLst>
          </p:cNvPr>
          <p:cNvSpPr>
            <a:spLocks noGrp="1"/>
          </p:cNvSpPr>
          <p:nvPr/>
        </p:nvSpPr>
        <p:spPr>
          <a:xfrm>
            <a:off x="5429250" y="1371600"/>
            <a:ext cx="609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Calculation for each new measurement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7F7936-3AF1-47A5-8E15-49861490A660}"/>
              </a:ext>
            </a:extLst>
          </p:cNvPr>
          <p:cNvSpPr>
            <a:spLocks noGrp="1"/>
          </p:cNvSpPr>
          <p:nvPr/>
        </p:nvSpPr>
        <p:spPr>
          <a:xfrm>
            <a:off x="5429250" y="1809750"/>
            <a:ext cx="6096000" cy="838200"/>
          </a:xfrm>
          <a:prstGeom prst="rect">
            <a:avLst/>
          </a:prstGeom>
          <a:solidFill>
            <a:srgbClr val="E8F2F9"/>
          </a:solidFill>
          <a:ln w="9525">
            <a:solidFill>
              <a:srgbClr val="CBD5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629978-9310-440B-A7F1-7084A52A4E88}"/>
              </a:ext>
            </a:extLst>
          </p:cNvPr>
          <p:cNvSpPr>
            <a:spLocks noGrp="1"/>
          </p:cNvSpPr>
          <p:nvPr/>
        </p:nvSpPr>
        <p:spPr>
          <a:xfrm>
            <a:off x="5562600" y="1981200"/>
            <a:ext cx="361950" cy="361950"/>
          </a:xfrm>
          <a:prstGeom prst="rect">
            <a:avLst/>
          </a:prstGeom>
          <a:solidFill>
            <a:srgbClr val="2F75A9"/>
          </a:solidFill>
          <a:ln w="9525">
            <a:solidFill>
              <a:srgbClr val="2F75A9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0AE8F9-F3E9-4A53-9565-DEE3B1AC2666}"/>
              </a:ext>
            </a:extLst>
          </p:cNvPr>
          <p:cNvSpPr>
            <a:spLocks noGrp="1"/>
          </p:cNvSpPr>
          <p:nvPr/>
        </p:nvSpPr>
        <p:spPr>
          <a:xfrm>
            <a:off x="5657850" y="201930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6A56B3-204E-47D1-A559-C7ED8F22514E}"/>
              </a:ext>
            </a:extLst>
          </p:cNvPr>
          <p:cNvSpPr>
            <a:spLocks noGrp="1"/>
          </p:cNvSpPr>
          <p:nvPr/>
        </p:nvSpPr>
        <p:spPr>
          <a:xfrm>
            <a:off x="6076950" y="1905000"/>
            <a:ext cx="5295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Predict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589801-CCCE-4307-9FF9-336E728E7486}"/>
              </a:ext>
            </a:extLst>
          </p:cNvPr>
          <p:cNvSpPr>
            <a:spLocks noGrp="1"/>
          </p:cNvSpPr>
          <p:nvPr/>
        </p:nvSpPr>
        <p:spPr>
          <a:xfrm>
            <a:off x="6076950" y="2219325"/>
            <a:ext cx="52959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x̂⁻ = previous x̂      P⁻ = previous P + Q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FA5914-CC43-485F-8C49-95A7DD075289}"/>
              </a:ext>
            </a:extLst>
          </p:cNvPr>
          <p:cNvSpPr>
            <a:spLocks noGrp="1"/>
          </p:cNvSpPr>
          <p:nvPr/>
        </p:nvSpPr>
        <p:spPr>
          <a:xfrm>
            <a:off x="8334375" y="2667000"/>
            <a:ext cx="285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↓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99CB5E-EA52-4FF7-836B-D70509B3D49E}"/>
              </a:ext>
            </a:extLst>
          </p:cNvPr>
          <p:cNvSpPr>
            <a:spLocks noGrp="1"/>
          </p:cNvSpPr>
          <p:nvPr/>
        </p:nvSpPr>
        <p:spPr>
          <a:xfrm>
            <a:off x="5429250" y="2952750"/>
            <a:ext cx="6096000" cy="8382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F48079-B5E0-43D3-9BEE-14C5E0524C5F}"/>
              </a:ext>
            </a:extLst>
          </p:cNvPr>
          <p:cNvSpPr>
            <a:spLocks noGrp="1"/>
          </p:cNvSpPr>
          <p:nvPr/>
        </p:nvSpPr>
        <p:spPr>
          <a:xfrm>
            <a:off x="5562600" y="3124200"/>
            <a:ext cx="361950" cy="361950"/>
          </a:xfrm>
          <a:prstGeom prst="rect">
            <a:avLst/>
          </a:prstGeom>
          <a:solidFill>
            <a:srgbClr val="2F75A9"/>
          </a:solidFill>
          <a:ln w="9525">
            <a:solidFill>
              <a:srgbClr val="2F75A9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6B4A69-BF6E-4694-BDF6-FA75A7F36CE7}"/>
              </a:ext>
            </a:extLst>
          </p:cNvPr>
          <p:cNvSpPr>
            <a:spLocks noGrp="1"/>
          </p:cNvSpPr>
          <p:nvPr/>
        </p:nvSpPr>
        <p:spPr>
          <a:xfrm>
            <a:off x="5657850" y="316230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1C6C29-9AF5-4768-9D44-437C9ED33C59}"/>
              </a:ext>
            </a:extLst>
          </p:cNvPr>
          <p:cNvSpPr>
            <a:spLocks noGrp="1"/>
          </p:cNvSpPr>
          <p:nvPr/>
        </p:nvSpPr>
        <p:spPr>
          <a:xfrm>
            <a:off x="6076950" y="3048000"/>
            <a:ext cx="5295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Compare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4B0752D-4BF8-4D20-8954-820C20B506E1}"/>
              </a:ext>
            </a:extLst>
          </p:cNvPr>
          <p:cNvSpPr>
            <a:spLocks noGrp="1"/>
          </p:cNvSpPr>
          <p:nvPr/>
        </p:nvSpPr>
        <p:spPr>
          <a:xfrm>
            <a:off x="6076950" y="3362325"/>
            <a:ext cx="52959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y = z − x̂⁻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BDB850D-1D5A-4798-ACB5-083B4B2609F0}"/>
              </a:ext>
            </a:extLst>
          </p:cNvPr>
          <p:cNvSpPr>
            <a:spLocks noGrp="1"/>
          </p:cNvSpPr>
          <p:nvPr/>
        </p:nvSpPr>
        <p:spPr>
          <a:xfrm>
            <a:off x="8334375" y="3810000"/>
            <a:ext cx="285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↓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5FA11F5-F7A1-4AC3-B451-A1C986D1D26C}"/>
              </a:ext>
            </a:extLst>
          </p:cNvPr>
          <p:cNvSpPr>
            <a:spLocks noGrp="1"/>
          </p:cNvSpPr>
          <p:nvPr/>
        </p:nvSpPr>
        <p:spPr>
          <a:xfrm>
            <a:off x="5429250" y="4095750"/>
            <a:ext cx="6096000" cy="838200"/>
          </a:xfrm>
          <a:prstGeom prst="rect">
            <a:avLst/>
          </a:prstGeom>
          <a:solidFill>
            <a:srgbClr val="FFF1E6"/>
          </a:solidFill>
          <a:ln w="9525">
            <a:solidFill>
              <a:srgbClr val="CBD5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7EBC170-1550-49B4-BB46-0876B55611D7}"/>
              </a:ext>
            </a:extLst>
          </p:cNvPr>
          <p:cNvSpPr>
            <a:spLocks noGrp="1"/>
          </p:cNvSpPr>
          <p:nvPr/>
        </p:nvSpPr>
        <p:spPr>
          <a:xfrm>
            <a:off x="5562600" y="4267200"/>
            <a:ext cx="361950" cy="361950"/>
          </a:xfrm>
          <a:prstGeom prst="rect">
            <a:avLst/>
          </a:prstGeom>
          <a:solidFill>
            <a:srgbClr val="2F75A9"/>
          </a:solidFill>
          <a:ln w="9525">
            <a:solidFill>
              <a:srgbClr val="2F75A9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529DD80-57C0-4551-8C54-5EA87D400A42}"/>
              </a:ext>
            </a:extLst>
          </p:cNvPr>
          <p:cNvSpPr>
            <a:spLocks noGrp="1"/>
          </p:cNvSpPr>
          <p:nvPr/>
        </p:nvSpPr>
        <p:spPr>
          <a:xfrm>
            <a:off x="5657850" y="430530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182B6A-58ED-4473-9F92-1B94CB20A724}"/>
              </a:ext>
            </a:extLst>
          </p:cNvPr>
          <p:cNvSpPr>
            <a:spLocks noGrp="1"/>
          </p:cNvSpPr>
          <p:nvPr/>
        </p:nvSpPr>
        <p:spPr>
          <a:xfrm>
            <a:off x="6076950" y="4191000"/>
            <a:ext cx="5295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Choose trust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91732C0-5E3B-4085-81C1-A0C9318C3698}"/>
              </a:ext>
            </a:extLst>
          </p:cNvPr>
          <p:cNvSpPr>
            <a:spLocks noGrp="1"/>
          </p:cNvSpPr>
          <p:nvPr/>
        </p:nvSpPr>
        <p:spPr>
          <a:xfrm>
            <a:off x="6076950" y="4505325"/>
            <a:ext cx="52959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K = P⁻ / (P⁻ + R)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EB73F4C-100B-44E3-9424-3C1F240378B7}"/>
              </a:ext>
            </a:extLst>
          </p:cNvPr>
          <p:cNvSpPr>
            <a:spLocks noGrp="1"/>
          </p:cNvSpPr>
          <p:nvPr/>
        </p:nvSpPr>
        <p:spPr>
          <a:xfrm>
            <a:off x="8334375" y="4953000"/>
            <a:ext cx="285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↓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13BDF32-BA7E-4DDE-AC1B-4F3DA5C02ABC}"/>
              </a:ext>
            </a:extLst>
          </p:cNvPr>
          <p:cNvSpPr>
            <a:spLocks noGrp="1"/>
          </p:cNvSpPr>
          <p:nvPr/>
        </p:nvSpPr>
        <p:spPr>
          <a:xfrm>
            <a:off x="5429250" y="5238750"/>
            <a:ext cx="6096000" cy="838200"/>
          </a:xfrm>
          <a:prstGeom prst="rect">
            <a:avLst/>
          </a:prstGeom>
          <a:solidFill>
            <a:srgbClr val="E9F5F0"/>
          </a:solidFill>
          <a:ln w="9525">
            <a:solidFill>
              <a:srgbClr val="CBD5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9A3C7D4-156D-4338-9246-DDFE2EB53EAF}"/>
              </a:ext>
            </a:extLst>
          </p:cNvPr>
          <p:cNvSpPr>
            <a:spLocks noGrp="1"/>
          </p:cNvSpPr>
          <p:nvPr/>
        </p:nvSpPr>
        <p:spPr>
          <a:xfrm>
            <a:off x="5562600" y="5410200"/>
            <a:ext cx="361950" cy="361950"/>
          </a:xfrm>
          <a:prstGeom prst="rect">
            <a:avLst/>
          </a:prstGeom>
          <a:solidFill>
            <a:srgbClr val="2F75A9"/>
          </a:solidFill>
          <a:ln w="9525">
            <a:solidFill>
              <a:srgbClr val="2F75A9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15D8137-20F7-4F1B-A13F-3ED2DE286207}"/>
              </a:ext>
            </a:extLst>
          </p:cNvPr>
          <p:cNvSpPr>
            <a:spLocks noGrp="1"/>
          </p:cNvSpPr>
          <p:nvPr/>
        </p:nvSpPr>
        <p:spPr>
          <a:xfrm>
            <a:off x="5657850" y="544830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5CE78D8-07E8-4995-9F3A-AE7D609D4A04}"/>
              </a:ext>
            </a:extLst>
          </p:cNvPr>
          <p:cNvSpPr>
            <a:spLocks noGrp="1"/>
          </p:cNvSpPr>
          <p:nvPr/>
        </p:nvSpPr>
        <p:spPr>
          <a:xfrm>
            <a:off x="6076950" y="5334000"/>
            <a:ext cx="5295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Update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F56D5E4-C3CE-4E2E-BF82-85AA5ADF8FC6}"/>
              </a:ext>
            </a:extLst>
          </p:cNvPr>
          <p:cNvSpPr>
            <a:spLocks noGrp="1"/>
          </p:cNvSpPr>
          <p:nvPr/>
        </p:nvSpPr>
        <p:spPr>
          <a:xfrm>
            <a:off x="6076950" y="5648325"/>
            <a:ext cx="52959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x̂ = x̂⁻ + Ky      P = (I − K)P⁻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828FE28-1128-486F-9D76-07F45C8D3988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This example uses diagonal covariance matrices, so x and y update separately.</a:t>
            </a:r>
          </a:p>
        </p:txBody>
      </p:sp>
    </p:spTree>
    <p:extLst>
      <p:ext uri="{BB962C8B-B14F-4D97-AF65-F5344CB8AC3E}">
        <p14:creationId xmlns:p14="http://schemas.microsoft.com/office/powerpoint/2010/main" val="560763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2B47CC9D-576A-4A22-B83E-EABD07AC253E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Two-dimensional worked update: measurement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85ECCC-CDE6-4FB2-B53D-F01FB3A3E7F6}"/>
              </a:ext>
            </a:extLst>
          </p:cNvPr>
          <p:cNvSpPr>
            <a:spLocks noGrp="1"/>
          </p:cNvSpPr>
          <p:nvPr/>
        </p:nvSpPr>
        <p:spPr>
          <a:xfrm>
            <a:off x="704850" y="895350"/>
            <a:ext cx="108108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Previous estimate: x̂₁ = [8; 6] m    New reading: z₂ = [11; 4.5] m    Q = 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81F581-03BA-43B8-951B-EDBFC75F3C1D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7620000" cy="809625"/>
          </a:xfrm>
          <a:prstGeom prst="rect">
            <a:avLst/>
          </a:prstGeom>
          <a:solidFill>
            <a:srgbClr val="E8F2F9"/>
          </a:solidFill>
          <a:ln w="9525">
            <a:solidFill>
              <a:srgbClr val="CBD5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F3E8C8-1E14-4D08-A4B9-D957ED37094F}"/>
              </a:ext>
            </a:extLst>
          </p:cNvPr>
          <p:cNvSpPr>
            <a:spLocks noGrp="1"/>
          </p:cNvSpPr>
          <p:nvPr/>
        </p:nvSpPr>
        <p:spPr>
          <a:xfrm>
            <a:off x="838200" y="1600200"/>
            <a:ext cx="438150" cy="438150"/>
          </a:xfrm>
          <a:prstGeom prst="rect">
            <a:avLst/>
          </a:prstGeom>
          <a:solidFill>
            <a:srgbClr val="2F75A9"/>
          </a:solidFill>
          <a:ln w="9525">
            <a:solidFill>
              <a:srgbClr val="2F75A9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EE22ED-13E5-452B-97CF-131015EC9C76}"/>
              </a:ext>
            </a:extLst>
          </p:cNvPr>
          <p:cNvSpPr>
            <a:spLocks noGrp="1"/>
          </p:cNvSpPr>
          <p:nvPr/>
        </p:nvSpPr>
        <p:spPr>
          <a:xfrm>
            <a:off x="971550" y="1666875"/>
            <a:ext cx="238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888177-6E77-42AB-BCCC-BFC97AE67925}"/>
              </a:ext>
            </a:extLst>
          </p:cNvPr>
          <p:cNvSpPr>
            <a:spLocks noGrp="1"/>
          </p:cNvSpPr>
          <p:nvPr/>
        </p:nvSpPr>
        <p:spPr>
          <a:xfrm>
            <a:off x="1571625" y="1514475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Prediction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C9B163-D8B7-4EEE-A8CD-9A6D1C19CCCF}"/>
              </a:ext>
            </a:extLst>
          </p:cNvPr>
          <p:cNvSpPr>
            <a:spLocks noGrp="1"/>
          </p:cNvSpPr>
          <p:nvPr/>
        </p:nvSpPr>
        <p:spPr>
          <a:xfrm>
            <a:off x="3781425" y="1495425"/>
            <a:ext cx="42386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x̂₂⁻ = [8; 6] 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F6F44E-2D04-4351-A9E2-06412DDEB2D1}"/>
              </a:ext>
            </a:extLst>
          </p:cNvPr>
          <p:cNvSpPr>
            <a:spLocks noGrp="1"/>
          </p:cNvSpPr>
          <p:nvPr/>
        </p:nvSpPr>
        <p:spPr>
          <a:xfrm>
            <a:off x="3781425" y="1838325"/>
            <a:ext cx="42386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P₂⁻ = [4  0; 0  1] m²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AE3367-71C1-4B08-843C-808AB848A052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7620000" cy="809625"/>
          </a:xfrm>
          <a:prstGeom prst="rect">
            <a:avLst/>
          </a:prstGeom>
          <a:solidFill>
            <a:srgbClr val="F4F6F8"/>
          </a:solidFill>
          <a:ln w="9525">
            <a:solidFill>
              <a:srgbClr val="CBD5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DD6583-695D-420E-864E-8F24F5951142}"/>
              </a:ext>
            </a:extLst>
          </p:cNvPr>
          <p:cNvSpPr>
            <a:spLocks noGrp="1"/>
          </p:cNvSpPr>
          <p:nvPr/>
        </p:nvSpPr>
        <p:spPr>
          <a:xfrm>
            <a:off x="838200" y="2505075"/>
            <a:ext cx="438150" cy="438150"/>
          </a:xfrm>
          <a:prstGeom prst="rect">
            <a:avLst/>
          </a:prstGeom>
          <a:solidFill>
            <a:srgbClr val="2F75A9"/>
          </a:solidFill>
          <a:ln w="9525">
            <a:solidFill>
              <a:srgbClr val="2F75A9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441F2C-9A6A-49E3-A26D-DCA7B5A836D8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38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539A8D-87B6-4634-B573-BA2E02FAB80E}"/>
              </a:ext>
            </a:extLst>
          </p:cNvPr>
          <p:cNvSpPr>
            <a:spLocks noGrp="1"/>
          </p:cNvSpPr>
          <p:nvPr/>
        </p:nvSpPr>
        <p:spPr>
          <a:xfrm>
            <a:off x="1571625" y="24193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Innovation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DCA018-6AD4-4E38-93BC-C2AFF47689D6}"/>
              </a:ext>
            </a:extLst>
          </p:cNvPr>
          <p:cNvSpPr>
            <a:spLocks noGrp="1"/>
          </p:cNvSpPr>
          <p:nvPr/>
        </p:nvSpPr>
        <p:spPr>
          <a:xfrm>
            <a:off x="3781425" y="2400300"/>
            <a:ext cx="42386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y₂ = z₂ − x̂₂⁻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00E3D4-6028-4CCA-9D1E-41AF1B4CE3E3}"/>
              </a:ext>
            </a:extLst>
          </p:cNvPr>
          <p:cNvSpPr>
            <a:spLocks noGrp="1"/>
          </p:cNvSpPr>
          <p:nvPr/>
        </p:nvSpPr>
        <p:spPr>
          <a:xfrm>
            <a:off x="3781425" y="2743200"/>
            <a:ext cx="42386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y₂ = [3; −1.5] 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B9BF9B-5650-4716-B582-8E0D13EB9CBF}"/>
              </a:ext>
            </a:extLst>
          </p:cNvPr>
          <p:cNvSpPr>
            <a:spLocks noGrp="1"/>
          </p:cNvSpPr>
          <p:nvPr/>
        </p:nvSpPr>
        <p:spPr>
          <a:xfrm>
            <a:off x="666750" y="3238500"/>
            <a:ext cx="7620000" cy="809625"/>
          </a:xfrm>
          <a:prstGeom prst="rect">
            <a:avLst/>
          </a:prstGeom>
          <a:solidFill>
            <a:srgbClr val="FFF1E6"/>
          </a:solidFill>
          <a:ln w="9525">
            <a:solidFill>
              <a:srgbClr val="CBD5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DC6935-B067-4219-B36F-E93C1D15C8FC}"/>
              </a:ext>
            </a:extLst>
          </p:cNvPr>
          <p:cNvSpPr>
            <a:spLocks noGrp="1"/>
          </p:cNvSpPr>
          <p:nvPr/>
        </p:nvSpPr>
        <p:spPr>
          <a:xfrm>
            <a:off x="838200" y="3409950"/>
            <a:ext cx="438150" cy="438150"/>
          </a:xfrm>
          <a:prstGeom prst="rect">
            <a:avLst/>
          </a:prstGeom>
          <a:solidFill>
            <a:srgbClr val="2F75A9"/>
          </a:solidFill>
          <a:ln w="9525">
            <a:solidFill>
              <a:srgbClr val="2F75A9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C4E31F-259E-4AC2-ABB2-B133C224C47D}"/>
              </a:ext>
            </a:extLst>
          </p:cNvPr>
          <p:cNvSpPr>
            <a:spLocks noGrp="1"/>
          </p:cNvSpPr>
          <p:nvPr/>
        </p:nvSpPr>
        <p:spPr>
          <a:xfrm>
            <a:off x="971550" y="3476625"/>
            <a:ext cx="238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F17A29-037E-4550-B61D-45898F3CCC78}"/>
              </a:ext>
            </a:extLst>
          </p:cNvPr>
          <p:cNvSpPr>
            <a:spLocks noGrp="1"/>
          </p:cNvSpPr>
          <p:nvPr/>
        </p:nvSpPr>
        <p:spPr>
          <a:xfrm>
            <a:off x="1571625" y="3324225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Kalman gain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DE8666-D563-481A-B6FD-53838AC489D3}"/>
              </a:ext>
            </a:extLst>
          </p:cNvPr>
          <p:cNvSpPr>
            <a:spLocks noGrp="1"/>
          </p:cNvSpPr>
          <p:nvPr/>
        </p:nvSpPr>
        <p:spPr>
          <a:xfrm>
            <a:off x="3781425" y="3305175"/>
            <a:ext cx="42386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K₂ = P₂⁻ / (P₂⁻ + R₂)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3FB084-1E49-4296-BE46-62C164A737A2}"/>
              </a:ext>
            </a:extLst>
          </p:cNvPr>
          <p:cNvSpPr>
            <a:spLocks noGrp="1"/>
          </p:cNvSpPr>
          <p:nvPr/>
        </p:nvSpPr>
        <p:spPr>
          <a:xfrm>
            <a:off x="3781425" y="3648075"/>
            <a:ext cx="42386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K₂ = [0.8  0; 0  0.2]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D4AE47-A77E-4C60-8CDB-10AD65A9A7FF}"/>
              </a:ext>
            </a:extLst>
          </p:cNvPr>
          <p:cNvSpPr>
            <a:spLocks noGrp="1"/>
          </p:cNvSpPr>
          <p:nvPr/>
        </p:nvSpPr>
        <p:spPr>
          <a:xfrm>
            <a:off x="666750" y="4143375"/>
            <a:ext cx="7620000" cy="809625"/>
          </a:xfrm>
          <a:prstGeom prst="rect">
            <a:avLst/>
          </a:prstGeom>
          <a:solidFill>
            <a:srgbClr val="E9F5F0"/>
          </a:solidFill>
          <a:ln w="9525">
            <a:solidFill>
              <a:srgbClr val="CBD5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73395F-5617-49BE-BBA4-C14A0E47E389}"/>
              </a:ext>
            </a:extLst>
          </p:cNvPr>
          <p:cNvSpPr>
            <a:spLocks noGrp="1"/>
          </p:cNvSpPr>
          <p:nvPr/>
        </p:nvSpPr>
        <p:spPr>
          <a:xfrm>
            <a:off x="838200" y="4314825"/>
            <a:ext cx="438150" cy="438150"/>
          </a:xfrm>
          <a:prstGeom prst="rect">
            <a:avLst/>
          </a:prstGeom>
          <a:solidFill>
            <a:srgbClr val="2F75A9"/>
          </a:solidFill>
          <a:ln w="9525">
            <a:solidFill>
              <a:srgbClr val="2F75A9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24D6C2-641D-459C-BB29-CFE17CCF835D}"/>
              </a:ext>
            </a:extLst>
          </p:cNvPr>
          <p:cNvSpPr>
            <a:spLocks noGrp="1"/>
          </p:cNvSpPr>
          <p:nvPr/>
        </p:nvSpPr>
        <p:spPr>
          <a:xfrm>
            <a:off x="971550" y="4381500"/>
            <a:ext cx="238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EB3C66-98A0-48D1-97B2-E370FC7E0EF3}"/>
              </a:ext>
            </a:extLst>
          </p:cNvPr>
          <p:cNvSpPr>
            <a:spLocks noGrp="1"/>
          </p:cNvSpPr>
          <p:nvPr/>
        </p:nvSpPr>
        <p:spPr>
          <a:xfrm>
            <a:off x="1571625" y="422910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Updated estimate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8927A6-B160-478A-9B44-B93A5D07DE5F}"/>
              </a:ext>
            </a:extLst>
          </p:cNvPr>
          <p:cNvSpPr>
            <a:spLocks noGrp="1"/>
          </p:cNvSpPr>
          <p:nvPr/>
        </p:nvSpPr>
        <p:spPr>
          <a:xfrm>
            <a:off x="3781425" y="4210050"/>
            <a:ext cx="42386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x̂₂ = x̂₂⁻ + K₂y₂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1D7708-CAD5-456D-8297-AD91541106DF}"/>
              </a:ext>
            </a:extLst>
          </p:cNvPr>
          <p:cNvSpPr>
            <a:spLocks noGrp="1"/>
          </p:cNvSpPr>
          <p:nvPr/>
        </p:nvSpPr>
        <p:spPr>
          <a:xfrm>
            <a:off x="3781425" y="4552950"/>
            <a:ext cx="42386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x̂₂ = [10.4; 5.7] 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3889DE-2B12-4C3C-A492-D3EA3CF58713}"/>
              </a:ext>
            </a:extLst>
          </p:cNvPr>
          <p:cNvSpPr>
            <a:spLocks noGrp="1"/>
          </p:cNvSpPr>
          <p:nvPr/>
        </p:nvSpPr>
        <p:spPr>
          <a:xfrm>
            <a:off x="666750" y="5048250"/>
            <a:ext cx="7620000" cy="809625"/>
          </a:xfrm>
          <a:prstGeom prst="rect">
            <a:avLst/>
          </a:prstGeom>
          <a:solidFill>
            <a:srgbClr val="E9F5F0"/>
          </a:solidFill>
          <a:ln w="9525">
            <a:solidFill>
              <a:srgbClr val="CBD5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D42A85-94E2-46B9-95C6-D5446C45E1FA}"/>
              </a:ext>
            </a:extLst>
          </p:cNvPr>
          <p:cNvSpPr>
            <a:spLocks noGrp="1"/>
          </p:cNvSpPr>
          <p:nvPr/>
        </p:nvSpPr>
        <p:spPr>
          <a:xfrm>
            <a:off x="838200" y="5219700"/>
            <a:ext cx="438150" cy="438150"/>
          </a:xfrm>
          <a:prstGeom prst="rect">
            <a:avLst/>
          </a:prstGeom>
          <a:solidFill>
            <a:srgbClr val="2F75A9"/>
          </a:solidFill>
          <a:ln w="9525">
            <a:solidFill>
              <a:srgbClr val="2F75A9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E79A775-6252-4B8B-8300-3BEC5B563C4B}"/>
              </a:ext>
            </a:extLst>
          </p:cNvPr>
          <p:cNvSpPr>
            <a:spLocks noGrp="1"/>
          </p:cNvSpPr>
          <p:nvPr/>
        </p:nvSpPr>
        <p:spPr>
          <a:xfrm>
            <a:off x="971550" y="5286375"/>
            <a:ext cx="238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5AB3AB-7B62-4ADB-AF75-AB4C3FDB30D4}"/>
              </a:ext>
            </a:extLst>
          </p:cNvPr>
          <p:cNvSpPr>
            <a:spLocks noGrp="1"/>
          </p:cNvSpPr>
          <p:nvPr/>
        </p:nvSpPr>
        <p:spPr>
          <a:xfrm>
            <a:off x="1571625" y="5133975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Updated uncertainty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2B5325-892B-4216-AF78-AC5842297906}"/>
              </a:ext>
            </a:extLst>
          </p:cNvPr>
          <p:cNvSpPr>
            <a:spLocks noGrp="1"/>
          </p:cNvSpPr>
          <p:nvPr/>
        </p:nvSpPr>
        <p:spPr>
          <a:xfrm>
            <a:off x="3781425" y="5114925"/>
            <a:ext cx="42386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P₂ = (I − K₂)P₂⁻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D8234C-FBC0-48FC-808B-5E9C3C546273}"/>
              </a:ext>
            </a:extLst>
          </p:cNvPr>
          <p:cNvSpPr>
            <a:spLocks noGrp="1"/>
          </p:cNvSpPr>
          <p:nvPr/>
        </p:nvSpPr>
        <p:spPr>
          <a:xfrm>
            <a:off x="3781425" y="5457825"/>
            <a:ext cx="42386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P₂ = [0.8  0; 0  0.8] m²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20C47A-DC29-44DA-BC11-99769313B49B}"/>
              </a:ext>
            </a:extLst>
          </p:cNvPr>
          <p:cNvSpPr>
            <a:spLocks noGrp="1"/>
          </p:cNvSpPr>
          <p:nvPr/>
        </p:nvSpPr>
        <p:spPr>
          <a:xfrm>
            <a:off x="8715375" y="1714500"/>
            <a:ext cx="2809875" cy="1952625"/>
          </a:xfrm>
          <a:prstGeom prst="rect">
            <a:avLst/>
          </a:prstGeom>
          <a:solidFill>
            <a:srgbClr val="FFF1E6"/>
          </a:solidFill>
          <a:ln w="9525">
            <a:solidFill>
              <a:srgbClr val="C96A28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62B6D01-68E3-4BD0-B013-13601343973E}"/>
              </a:ext>
            </a:extLst>
          </p:cNvPr>
          <p:cNvSpPr>
            <a:spLocks noGrp="1"/>
          </p:cNvSpPr>
          <p:nvPr/>
        </p:nvSpPr>
        <p:spPr>
          <a:xfrm>
            <a:off x="8991600" y="1952625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Two different gains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C3B5732-C32F-4B65-B805-7AFF88B70B4E}"/>
              </a:ext>
            </a:extLst>
          </p:cNvPr>
          <p:cNvSpPr>
            <a:spLocks noGrp="1"/>
          </p:cNvSpPr>
          <p:nvPr/>
        </p:nvSpPr>
        <p:spPr>
          <a:xfrm>
            <a:off x="8991600" y="2457450"/>
            <a:ext cx="2286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Kx = 0.8 trusts the new x measurement strongly.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230ED5D-93A8-4D79-A361-0340C20152CB}"/>
              </a:ext>
            </a:extLst>
          </p:cNvPr>
          <p:cNvSpPr>
            <a:spLocks noGrp="1"/>
          </p:cNvSpPr>
          <p:nvPr/>
        </p:nvSpPr>
        <p:spPr>
          <a:xfrm>
            <a:off x="8991600" y="314325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C96A2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C96A28"/>
                </a:solidFill>
                <a:latin typeface="Bitstream Charter"/>
                <a:ea typeface="Bitstream Charter"/>
                <a:cs typeface="Bitstream Charter"/>
              </a:rPr>
              <a:t>Ky = 0.2 keeps y closer to its prediction.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49E33C-06BD-430D-AC77-165641B70BF4}"/>
              </a:ext>
            </a:extLst>
          </p:cNvPr>
          <p:cNvSpPr>
            <a:spLocks noGrp="1"/>
          </p:cNvSpPr>
          <p:nvPr/>
        </p:nvSpPr>
        <p:spPr>
          <a:xfrm>
            <a:off x="8715375" y="4000500"/>
            <a:ext cx="2809875" cy="1619250"/>
          </a:xfrm>
          <a:prstGeom prst="rect">
            <a:avLst/>
          </a:prstGeom>
          <a:solidFill>
            <a:srgbClr val="E9F5F0"/>
          </a:solidFill>
          <a:ln w="9525">
            <a:solidFill>
              <a:srgbClr val="2F7D6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C8CE3B3-53A4-4FA9-98E1-7F100A6E5B4D}"/>
              </a:ext>
            </a:extLst>
          </p:cNvPr>
          <p:cNvSpPr>
            <a:spLocks noGrp="1"/>
          </p:cNvSpPr>
          <p:nvPr/>
        </p:nvSpPr>
        <p:spPr>
          <a:xfrm>
            <a:off x="8991600" y="422910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Result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1343629-87EE-463A-980E-CDB4903E75B3}"/>
              </a:ext>
            </a:extLst>
          </p:cNvPr>
          <p:cNvSpPr>
            <a:spLocks noGrp="1"/>
          </p:cNvSpPr>
          <p:nvPr/>
        </p:nvSpPr>
        <p:spPr>
          <a:xfrm>
            <a:off x="8991600" y="4695825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F7D6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2F7D66"/>
                </a:solidFill>
                <a:latin typeface="Bitstream Charter"/>
                <a:ea typeface="Bitstream Charter"/>
                <a:cs typeface="Bitstream Charter"/>
              </a:rPr>
              <a:t>x̂₂ = [10.4; 5.7] 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2A8A6A7-3338-44CF-90C6-54EAE8E80C1F}"/>
              </a:ext>
            </a:extLst>
          </p:cNvPr>
          <p:cNvSpPr>
            <a:spLocks noGrp="1"/>
          </p:cNvSpPr>
          <p:nvPr/>
        </p:nvSpPr>
        <p:spPr>
          <a:xfrm>
            <a:off x="8991600" y="5191125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P₂ = diag(0.8, 0.8) m²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568860E-E705-4C0E-8F12-50E3CFB9D52F}"/>
              </a:ext>
            </a:extLst>
          </p:cNvPr>
          <p:cNvSpPr>
            <a:spLocks noGrp="1"/>
          </p:cNvSpPr>
          <p:nvPr/>
        </p:nvSpPr>
        <p:spPr>
          <a:xfrm>
            <a:off x="704850" y="6324600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607080"/>
                </a:solidFill>
                <a:latin typeface="Bitstream Charter"/>
                <a:ea typeface="Bitstream Charter"/>
                <a:cs typeface="Bitstream Charter"/>
              </a:rPr>
              <a:t>The matrix calculation applies the same scalar idea to two state values.</a:t>
            </a:r>
          </a:p>
        </p:txBody>
      </p:sp>
    </p:spTree>
    <p:extLst>
      <p:ext uri="{BB962C8B-B14F-4D97-AF65-F5344CB8AC3E}">
        <p14:creationId xmlns:p14="http://schemas.microsoft.com/office/powerpoint/2010/main" val="1153890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719</Words>
  <Application>Microsoft Office PowerPoint</Application>
  <DocSecurity>0</DocSecurity>
  <PresentationFormat>Widescreen</PresentationFormat>
  <Paragraphs>136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Bitstream Charter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Mahdi Saleh</cp:lastModifiedBy>
  <cp:revision>1</cp:revision>
  <dcterms:created xsi:type="dcterms:W3CDTF">2026-09-17T15:17:52Z</dcterms:created>
  <dcterms:modified xsi:type="dcterms:W3CDTF">2026-09-17T15:24:11Z</dcterms:modified>
</cp:coreProperties>
</file>